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2077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0F4C3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5B927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2331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TERRAPULSE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004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8FD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Cleantech Data Warehouse from Five Messy Sources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7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MySQL 8.0 data warehouse for TerraPulse Global Ltd.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Database Engineering  |  Group Capstone  |  Friday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raw operational feeds. Zero shared formatting. One warehouse to build.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7F8F6"/>
          </a:solidFill>
          <a:ln/>
          <a:effectLst>
            <a:outerShdw blurRad="76200" dist="25400" dir="5400000" algn="bl" rotWithShape="0">
              <a:srgbClr val="1B2A2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85900" y="2286000"/>
            <a:ext cx="731520" cy="731520"/>
          </a:xfrm>
          <a:prstGeom prst="ellipse">
            <a:avLst/>
          </a:prstGeom>
          <a:solidFill>
            <a:srgbClr val="0F4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48590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208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20040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 casing &amp; whitespace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023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capitalization and stray spaces across every text field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7F8F6"/>
          </a:solidFill>
          <a:ln/>
          <a:effectLst>
            <a:outerShdw blurRad="76200" dist="25400" dir="5400000" algn="bl" rotWithShape="0">
              <a:srgbClr val="1B2A2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47972" y="2286000"/>
            <a:ext cx="731520" cy="731520"/>
          </a:xfrm>
          <a:prstGeom prst="ellipse">
            <a:avLst/>
          </a:prstGeom>
          <a:solidFill>
            <a:srgbClr val="0F4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34797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3575304" y="320040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different date formats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4023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YYYY-MM-DD, DD-Mon-YYYY, MM/DD/YYYY, and DD/MM/YYYY — all in one column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2784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7F8F6"/>
          </a:solidFill>
          <a:ln/>
          <a:effectLst>
            <a:outerShdw blurRad="76200" dist="25400" dir="5400000" algn="bl" rotWithShape="0">
              <a:srgbClr val="1B2A2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10044" y="2286000"/>
            <a:ext cx="731520" cy="731520"/>
          </a:xfrm>
          <a:prstGeom prst="ellipse">
            <a:avLst/>
          </a:prstGeom>
          <a:solidFill>
            <a:srgbClr val="0F4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2100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8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320040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Multi-currency orders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55664" y="4023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recorded in 8 different currencies, with no common baseline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34856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7F8F6"/>
          </a:solidFill>
          <a:ln/>
          <a:effectLst>
            <a:outerShdw blurRad="76200" dist="25400" dir="5400000" algn="bl" rotWithShape="0">
              <a:srgbClr val="1B2A2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72116" y="2286000"/>
            <a:ext cx="731520" cy="731520"/>
          </a:xfrm>
          <a:prstGeom prst="ellipse">
            <a:avLst/>
          </a:prstGeom>
          <a:solidFill>
            <a:srgbClr val="0F4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0072116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</a:t>
            </a:r>
            <a:endParaRPr lang="en-US" sz="2080" dirty="0"/>
          </a:p>
        </p:txBody>
      </p:sp>
      <p:sp>
        <p:nvSpPr>
          <p:cNvPr id="22" name="Text 20"/>
          <p:cNvSpPr txBox="1"/>
          <p:nvPr/>
        </p:nvSpPr>
        <p:spPr>
          <a:xfrm>
            <a:off x="9299448" y="320040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Nulls &amp; orphaned records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317736" y="4023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dormant customers, and dead stock hidden in the noise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TerraPulse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Raw Sources, One Ingestion Layer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7F8F6"/>
          </a:solidFill>
          <a:ln w="12700">
            <a:solidFill>
              <a:srgbClr val="E3E7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" y="1472184"/>
            <a:ext cx="585216" cy="585216"/>
          </a:xfrm>
          <a:prstGeom prst="ellipse">
            <a:avLst/>
          </a:prstGeom>
          <a:solidFill>
            <a:srgbClr val="5B92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14721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664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4447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Orders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983480" y="14447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raw_source1_marketplace_orders.csv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12680" y="14447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 rows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04288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3E7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49808" y="2404872"/>
            <a:ext cx="585216" cy="585216"/>
          </a:xfrm>
          <a:prstGeom prst="ellipse">
            <a:avLst/>
          </a:prstGeom>
          <a:solidFill>
            <a:srgbClr val="5B92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4048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TSV</a:t>
            </a:r>
            <a:endParaRPr lang="en-US" sz="1664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&amp; Fulfillment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2377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raw_source2_logistics_fulfillment.tsv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012680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 rows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236976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7F8F6"/>
          </a:solidFill>
          <a:ln w="12700">
            <a:solidFill>
              <a:srgbClr val="E3E7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9808" y="3337560"/>
            <a:ext cx="585216" cy="585216"/>
          </a:xfrm>
          <a:prstGeom prst="ellipse">
            <a:avLst/>
          </a:prstGeom>
          <a:solidFill>
            <a:srgbClr val="5B92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33375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664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3101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Demographics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33101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raw_source3_customer_demographics.json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012680" y="33101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rows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169664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3E7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9808" y="4270248"/>
            <a:ext cx="585216" cy="585216"/>
          </a:xfrm>
          <a:prstGeom prst="ellipse">
            <a:avLst/>
          </a:prstGeom>
          <a:solidFill>
            <a:srgbClr val="5B92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49808" y="42702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664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2428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Product Catalog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983480" y="42428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raw_source4_supplier_catalog.csv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012680" y="424281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rows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102352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7F8F6"/>
          </a:solidFill>
          <a:ln w="12700">
            <a:solidFill>
              <a:srgbClr val="E3E7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49808" y="5202936"/>
            <a:ext cx="585216" cy="585216"/>
          </a:xfrm>
          <a:prstGeom prst="ellipse">
            <a:avLst/>
          </a:prstGeom>
          <a:solidFill>
            <a:srgbClr val="5B92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749808" y="520293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664" dirty="0"/>
          </a:p>
        </p:txBody>
      </p:sp>
      <p:sp>
        <p:nvSpPr>
          <p:cNvPr id="30" name="Text 28"/>
          <p:cNvSpPr txBox="1"/>
          <p:nvPr/>
        </p:nvSpPr>
        <p:spPr>
          <a:xfrm>
            <a:off x="1600200" y="51755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FX Currency Rates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983480" y="51755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raw_source5_fx_rates.json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0012680" y="51755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currencies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TerraPulse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3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D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layers, one MySQL 8.0 schema: terrapulse_dw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0F4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23774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17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5760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7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ingest: CSV / TSV via LOAD DATA INFILE, JSON via JSON_TABLE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172968" y="352044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FD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447288" y="214884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0F4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447288" y="23774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3017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30168" y="365760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7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reference data: customers, products, categories, currencies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980176" y="352044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FD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254496" y="214884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0F4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254496" y="23774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fct_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391656" y="3017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365760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7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grain: fct_orders &amp; fct_logistics, 500K rows each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787384" y="352044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FD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9061704" y="214884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0F4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9061704" y="23774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198864" y="3017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Views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44584" y="365760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7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dashboard, customer 360, dead-stock alert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D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TerraPulse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D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Quality, Solved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206240" cy="987552"/>
          </a:xfrm>
          <a:prstGeom prst="roundRect">
            <a:avLst>
              <a:gd name="adj" fmla="val 5556"/>
            </a:avLst>
          </a:prstGeom>
          <a:solidFill>
            <a:srgbClr val="F4E9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490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C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099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date formats in one column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983480" y="1417320"/>
            <a:ext cx="6309360" cy="987552"/>
          </a:xfrm>
          <a:prstGeom prst="roundRect">
            <a:avLst>
              <a:gd name="adj" fmla="val 5556"/>
            </a:avLst>
          </a:prstGeom>
          <a:solidFill>
            <a:srgbClr val="F7F8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166360" y="1490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1709928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Pattern-matched with REGEXP + STR_TO_DATE, normalized to a single ISO standard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4206240" cy="987552"/>
          </a:xfrm>
          <a:prstGeom prst="roundRect">
            <a:avLst>
              <a:gd name="adj" fmla="val 5556"/>
            </a:avLst>
          </a:prstGeom>
          <a:solidFill>
            <a:srgbClr val="F4E9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31520" y="26609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C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8803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sources with UTF-8 binary loads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983480" y="2587752"/>
            <a:ext cx="6309360" cy="987552"/>
          </a:xfrm>
          <a:prstGeom prst="roundRect">
            <a:avLst>
              <a:gd name="adj" fmla="val 5556"/>
            </a:avLst>
          </a:prstGeom>
          <a:solidFill>
            <a:srgbClr val="F7F8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166360" y="26609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2880360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with CONVERT(...USING utf8mb4) + JSON_TABLE into clean staging rows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758184"/>
            <a:ext cx="4206240" cy="987552"/>
          </a:xfrm>
          <a:prstGeom prst="roundRect">
            <a:avLst>
              <a:gd name="adj" fmla="val 5556"/>
            </a:avLst>
          </a:prstGeom>
          <a:solidFill>
            <a:srgbClr val="F4E9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31520" y="38313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C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05079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referencing missing dimension rows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983480" y="3758184"/>
            <a:ext cx="6309360" cy="987552"/>
          </a:xfrm>
          <a:prstGeom prst="roundRect">
            <a:avLst>
              <a:gd name="adj" fmla="val 5556"/>
            </a:avLst>
          </a:prstGeom>
          <a:solidFill>
            <a:srgbClr val="F7F8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166360" y="383133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4050792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dimensions from staging first, then enforced referential integrity with foreign keys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928616"/>
            <a:ext cx="4206240" cy="987552"/>
          </a:xfrm>
          <a:prstGeom prst="roundRect">
            <a:avLst>
              <a:gd name="adj" fmla="val 5556"/>
            </a:avLst>
          </a:prstGeom>
          <a:solidFill>
            <a:srgbClr val="F4E9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31520" y="50017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C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22122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casing, currencies &amp; whitespace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983480" y="4928616"/>
            <a:ext cx="6309360" cy="987552"/>
          </a:xfrm>
          <a:prstGeom prst="roundRect">
            <a:avLst>
              <a:gd name="adj" fmla="val 5556"/>
            </a:avLst>
          </a:prstGeom>
          <a:solidFill>
            <a:srgbClr val="F7F8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166360" y="500176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5221224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+ UPPER/LOWER normalization and FX-rate conversion to a common USD baseline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TerraPulse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Star Schema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fact tables at the center, four dimensions surrounding them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017520" y="214884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0F4C3A"/>
          </a:solidFill>
          <a:ln/>
          <a:effectLst>
            <a:outerShdw blurRad="101600" dist="38100" dir="5400000" algn="bl" rotWithShape="0">
              <a:srgbClr val="1B2A2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301752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fct_orders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D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 rows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374904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0F4C3A"/>
          </a:solidFill>
          <a:ln/>
          <a:effectLst>
            <a:outerShdw blurRad="101600" dist="38100" dir="5400000" algn="bl" rotWithShape="0">
              <a:srgbClr val="1B2A2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017520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fct_logistics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4343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D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 rows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35240" y="141732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7F8F6"/>
          </a:solidFill>
          <a:ln w="19050">
            <a:solidFill>
              <a:srgbClr val="5B92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635240" y="1508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4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dim_customers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19019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rows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0" y="1851660"/>
            <a:ext cx="1691640" cy="822960"/>
          </a:xfrm>
          <a:prstGeom prst="line">
            <a:avLst/>
          </a:prstGeom>
          <a:noFill/>
          <a:ln w="15875">
            <a:solidFill>
              <a:srgbClr val="5B9279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35240" y="269748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7F8F6"/>
          </a:solidFill>
          <a:ln w="19050">
            <a:solidFill>
              <a:srgbClr val="5B92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635240" y="2788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4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dim_products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31821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rows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0" y="2674620"/>
            <a:ext cx="1691640" cy="457200"/>
          </a:xfrm>
          <a:prstGeom prst="line">
            <a:avLst/>
          </a:prstGeom>
          <a:noFill/>
          <a:ln w="15875">
            <a:solidFill>
              <a:srgbClr val="5B9279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35240" y="397764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7F8F6"/>
          </a:solidFill>
          <a:ln w="19050">
            <a:solidFill>
              <a:srgbClr val="5B92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635240" y="4069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4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dim_categories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44622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0" y="4274820"/>
            <a:ext cx="1691640" cy="137160"/>
          </a:xfrm>
          <a:prstGeom prst="line">
            <a:avLst/>
          </a:prstGeom>
          <a:noFill/>
          <a:ln w="15875">
            <a:solidFill>
              <a:srgbClr val="5B9279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635240" y="525780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7F8F6"/>
          </a:solidFill>
          <a:ln w="19050">
            <a:solidFill>
              <a:srgbClr val="5B92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635240" y="5349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4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dim_currencies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635240" y="57424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rows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0" y="4274820"/>
            <a:ext cx="1691640" cy="1417320"/>
          </a:xfrm>
          <a:prstGeom prst="line">
            <a:avLst/>
          </a:prstGeom>
          <a:noFill/>
          <a:ln w="15875">
            <a:solidFill>
              <a:srgbClr val="5B9279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292608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8FD3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85800" y="3017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 one row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 line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TerraPulse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Intelligence Layer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analytical questions answered directly against the warehouse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01368"/>
            <a:ext cx="566928" cy="566928"/>
          </a:xfrm>
          <a:prstGeom prst="ellipse">
            <a:avLst/>
          </a:prstGeom>
          <a:solidFill>
            <a:srgbClr val="5B92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801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12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691640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profitability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075688"/>
            <a:ext cx="4599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cost &amp; margin by product category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566928" cy="566928"/>
          </a:xfrm>
          <a:prstGeom prst="ellipse">
            <a:avLst/>
          </a:prstGeom>
          <a:solidFill>
            <a:srgbClr val="5B92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12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862072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revenue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3246120"/>
            <a:ext cx="4599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net revenue by customer country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142232"/>
            <a:ext cx="566928" cy="566928"/>
          </a:xfrm>
          <a:prstGeom prst="ellipse">
            <a:avLst/>
          </a:prstGeom>
          <a:solidFill>
            <a:srgbClr val="5B92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4142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12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4032504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Currency exposure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4416552"/>
            <a:ext cx="4599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revenue held in non-USD currencies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312664"/>
            <a:ext cx="566928" cy="566928"/>
          </a:xfrm>
          <a:prstGeom prst="ellipse">
            <a:avLst/>
          </a:prstGeom>
          <a:solidFill>
            <a:srgbClr val="5B92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53126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612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5202936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Carrier SLA audit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5586984"/>
            <a:ext cx="4599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shipping lead time, tiered by carrier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1801368"/>
            <a:ext cx="566928" cy="566928"/>
          </a:xfrm>
          <a:prstGeom prst="ellipse">
            <a:avLst/>
          </a:prstGeom>
          <a:solidFill>
            <a:srgbClr val="5B92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263640" y="1801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612" dirty="0"/>
          </a:p>
        </p:txBody>
      </p:sp>
      <p:sp>
        <p:nvSpPr>
          <p:cNvPr id="22" name="Text 20"/>
          <p:cNvSpPr txBox="1"/>
          <p:nvPr/>
        </p:nvSpPr>
        <p:spPr>
          <a:xfrm>
            <a:off x="7013448" y="1691640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013448" y="2075688"/>
            <a:ext cx="4599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/ Gold / Silver / Bronze by lifetime spend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2971800"/>
            <a:ext cx="566928" cy="566928"/>
          </a:xfrm>
          <a:prstGeom prst="ellipse">
            <a:avLst/>
          </a:prstGeom>
          <a:solidFill>
            <a:srgbClr val="5B92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263640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612" dirty="0"/>
          </a:p>
        </p:txBody>
      </p:sp>
      <p:sp>
        <p:nvSpPr>
          <p:cNvPr id="26" name="Text 24"/>
          <p:cNvSpPr txBox="1"/>
          <p:nvPr/>
        </p:nvSpPr>
        <p:spPr>
          <a:xfrm>
            <a:off x="7013448" y="2862072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Dormant customers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7013448" y="3246120"/>
            <a:ext cx="4599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customers with zero orders placed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4142232"/>
            <a:ext cx="566928" cy="566928"/>
          </a:xfrm>
          <a:prstGeom prst="ellipse">
            <a:avLst/>
          </a:prstGeom>
          <a:solidFill>
            <a:srgbClr val="5B92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263640" y="4142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612" dirty="0"/>
          </a:p>
        </p:txBody>
      </p:sp>
      <p:sp>
        <p:nvSpPr>
          <p:cNvPr id="30" name="Text 28"/>
          <p:cNvSpPr txBox="1"/>
          <p:nvPr/>
        </p:nvSpPr>
        <p:spPr>
          <a:xfrm>
            <a:off x="7013448" y="4032504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 stock audit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7013448" y="4416552"/>
            <a:ext cx="4599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capital tied up in unsold inventory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5312664"/>
            <a:ext cx="566928" cy="566928"/>
          </a:xfrm>
          <a:prstGeom prst="ellipse">
            <a:avLst/>
          </a:prstGeom>
          <a:solidFill>
            <a:srgbClr val="5B92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263640" y="53126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612" dirty="0"/>
          </a:p>
        </p:txBody>
      </p:sp>
      <p:sp>
        <p:nvSpPr>
          <p:cNvPr id="34" name="Text 32"/>
          <p:cNvSpPr txBox="1"/>
          <p:nvPr/>
        </p:nvSpPr>
        <p:spPr>
          <a:xfrm>
            <a:off x="7013448" y="5202936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 vs 2024 trend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7013448" y="5586984"/>
            <a:ext cx="4599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Month-by-month net revenue, year over year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TerraPulse — Phase 4: Business Intelligence Queries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3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Sample from the Revenue Dashboard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FD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vw_monthly_revenue_dashboard — Eco-Friendly Home &amp; Climate, September 2024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0F4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85800" y="28803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13,666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794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7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23774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0F4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520440" y="28803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$8.79M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3794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7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23774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0F4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355080" y="28803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$3.02M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794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7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89720" y="23774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0F4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189720" y="28803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3794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7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rows total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0749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FD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view recalculates live from fct_orders — every figure above updates automatically as new orders flow through the pipeline.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D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TerraPulse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D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Protecting the Warehouse: Transactions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bad update, caught and reversed without losing good 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F7F8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31620" y="2194560"/>
            <a:ext cx="640080" cy="640080"/>
          </a:xfrm>
          <a:prstGeom prst="ellipse">
            <a:avLst/>
          </a:prstGeom>
          <a:solidFill>
            <a:srgbClr val="0F4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53162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0175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update applied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9476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 cost increase on Renewable Energy &amp; Solar products, then a SAVEPOINT is marked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136392" y="352044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9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10712" y="192024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F4E9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93692" y="2194560"/>
            <a:ext cx="640080" cy="640080"/>
          </a:xfrm>
          <a:prstGeom prst="ellipse">
            <a:avLst/>
          </a:prstGeom>
          <a:solidFill>
            <a:srgbClr val="9C5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393692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3" name="Text 11"/>
          <p:cNvSpPr txBox="1"/>
          <p:nvPr/>
        </p:nvSpPr>
        <p:spPr>
          <a:xfrm>
            <a:off x="3575304" y="30175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 update simulated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379476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wipe of every product's unit cost to $50.00 — a stand-in for analyst error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98464" y="352044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9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72784" y="192024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F7F8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255764" y="2194560"/>
            <a:ext cx="640080" cy="640080"/>
          </a:xfrm>
          <a:prstGeom prst="ellipse">
            <a:avLst/>
          </a:prstGeom>
          <a:solidFill>
            <a:srgbClr val="0F4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255764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30175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Rollback to savepoint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55664" y="379476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TO SAVEPOINT discards only the bad update — the solar increase survives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860536" y="352044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9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34856" y="192024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F7F8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117836" y="2194560"/>
            <a:ext cx="640080" cy="640080"/>
          </a:xfrm>
          <a:prstGeom prst="ellipse">
            <a:avLst/>
          </a:prstGeom>
          <a:solidFill>
            <a:srgbClr val="0F4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10117836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20" dirty="0"/>
          </a:p>
        </p:txBody>
      </p:sp>
      <p:sp>
        <p:nvSpPr>
          <p:cNvPr id="25" name="Text 23"/>
          <p:cNvSpPr txBox="1"/>
          <p:nvPr/>
        </p:nvSpPr>
        <p:spPr>
          <a:xfrm>
            <a:off x="9299448" y="30175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update completed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9317736" y="379476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 cost increase on EV Mobility &amp; Charging products, then COMMIT finalizes both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TerraPulse — Phase 5: Transactions &amp; Data Integrity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3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0F4C3A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Chaos to a Trusted Warehouse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FD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terrapulse_dw is ready to power reporting, forecasting, and day-to-day decisions.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0F4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852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1,000,000+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7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rows loaded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265176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0F4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566160" y="2852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15,000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7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profiled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65176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0F4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309360" y="2852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7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tracked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265176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0F4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052560" y="2852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7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reporting views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00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217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Database Engineering  |  Group Capstone Presentation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779</Words>
  <Application>Microsoft Office PowerPoint</Application>
  <PresentationFormat>Widescreen</PresentationFormat>
  <Paragraphs>182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Edikan Okon</cp:lastModifiedBy>
  <cp:revision>1</cp:revision>
  <dcterms:created xsi:type="dcterms:W3CDTF">2026-09-21T20:32:33Z</dcterms:created>
  <dcterms:modified xsi:type="dcterms:W3CDTF">2026-09-22T15:41:31Z</dcterms:modified>
</cp:coreProperties>
</file>